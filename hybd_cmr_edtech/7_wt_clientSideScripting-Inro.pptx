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69" r:id="rId14"/>
    <p:sldId id="267"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74"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E9179-76E0-40C6-8FB9-259C75019E50}" type="datetimeFigureOut">
              <a:rPr lang="en-US" smtClean="0"/>
              <a:pPr/>
              <a:t>12/20/2024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11B41-D674-43D6-9316-63EFE95A4B3B}" type="slidenum">
              <a:rPr lang="en-US" smtClean="0"/>
              <a:pPr/>
              <a:t>‹#›</a:t>
            </a:fld>
            <a:endParaRPr lang="en-US"/>
          </a:p>
        </p:txBody>
      </p:sp>
    </p:spTree>
    <p:extLst>
      <p:ext uri="{BB962C8B-B14F-4D97-AF65-F5344CB8AC3E}">
        <p14:creationId xmlns:p14="http://schemas.microsoft.com/office/powerpoint/2010/main" xmlns="" val="692808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5511B41-D674-43D6-9316-63EFE95A4B3B}" type="slidenum">
              <a:rPr lang="en-US" smtClean="0"/>
              <a:pPr/>
              <a:t>1</a:t>
            </a:fld>
            <a:endParaRPr lang="en-US"/>
          </a:p>
        </p:txBody>
      </p:sp>
    </p:spTree>
    <p:extLst>
      <p:ext uri="{BB962C8B-B14F-4D97-AF65-F5344CB8AC3E}">
        <p14:creationId xmlns:p14="http://schemas.microsoft.com/office/powerpoint/2010/main" xmlns="" val="731811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511B41-D674-43D6-9316-63EFE95A4B3B}" type="slidenum">
              <a:rPr lang="en-US" smtClean="0"/>
              <a:pPr/>
              <a:t>14</a:t>
            </a:fld>
            <a:endParaRPr lang="en-US"/>
          </a:p>
        </p:txBody>
      </p:sp>
    </p:spTree>
    <p:extLst>
      <p:ext uri="{BB962C8B-B14F-4D97-AF65-F5344CB8AC3E}">
        <p14:creationId xmlns:p14="http://schemas.microsoft.com/office/powerpoint/2010/main" xmlns="" val="2294593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313223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3752644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1062695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278564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12674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2780900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1741925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277649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1913357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222353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3B7EF-1D0E-42D1-996F-0D01D3E7B6BA}" type="datetimeFigureOut">
              <a:rPr lang="en-US" smtClean="0"/>
              <a:pPr/>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320517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3B7EF-1D0E-42D1-996F-0D01D3E7B6BA}" type="datetimeFigureOut">
              <a:rPr lang="en-US" smtClean="0"/>
              <a:pPr/>
              <a:t>12/20/2024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8771CE-C5FE-4E57-8430-5C819E59A8DE}" type="slidenum">
              <a:rPr lang="en-US" smtClean="0"/>
              <a:pPr/>
              <a:t>‹#›</a:t>
            </a:fld>
            <a:endParaRPr lang="en-US"/>
          </a:p>
        </p:txBody>
      </p:sp>
    </p:spTree>
    <p:extLst>
      <p:ext uri="{BB962C8B-B14F-4D97-AF65-F5344CB8AC3E}">
        <p14:creationId xmlns:p14="http://schemas.microsoft.com/office/powerpoint/2010/main" xmlns="" val="3603905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scientecheasy.com/2021/12/what-is-scripting-language.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cientecheasy.com/2021/10/javascript-tutorial.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arrays-in-javascript/" TargetMode="External"/><Relationship Id="rId7" Type="http://schemas.openxmlformats.org/officeDocument/2006/relationships/hyperlink" Target="https://www.geeksforgeeks.org/javascript-statements/" TargetMode="External"/><Relationship Id="rId2" Type="http://schemas.openxmlformats.org/officeDocument/2006/relationships/hyperlink" Target="https://www.geeksforgeeks.org/server-side-client-side-programming/" TargetMode="External"/><Relationship Id="rId1" Type="http://schemas.openxmlformats.org/officeDocument/2006/relationships/slideLayout" Target="../slideLayouts/slideLayout2.xml"/><Relationship Id="rId6" Type="http://schemas.openxmlformats.org/officeDocument/2006/relationships/hyperlink" Target="https://www.geeksforgeeks.org/javascript-operators/" TargetMode="External"/><Relationship Id="rId5" Type="http://schemas.openxmlformats.org/officeDocument/2006/relationships/hyperlink" Target="https://www.geeksforgeeks.org/javascript-math-object/" TargetMode="External"/><Relationship Id="rId4" Type="http://schemas.openxmlformats.org/officeDocument/2006/relationships/hyperlink" Target="https://www.geeksforgeeks.org/javascript-date-objec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smtClean="0"/>
              <a:t> </a:t>
            </a:r>
            <a:r>
              <a:rPr lang="en-US" b="1" dirty="0" smtClean="0"/>
              <a:t>Client Side Scripting </a:t>
            </a:r>
            <a:br>
              <a:rPr lang="en-US" b="1" dirty="0" smtClean="0"/>
            </a:br>
            <a:endParaRPr lang="en-US" dirty="0"/>
          </a:p>
        </p:txBody>
      </p:sp>
      <p:sp>
        <p:nvSpPr>
          <p:cNvPr id="3" name="Subtitle 2"/>
          <p:cNvSpPr>
            <a:spLocks noGrp="1"/>
          </p:cNvSpPr>
          <p:nvPr>
            <p:ph type="subTitle" idx="1"/>
          </p:nvPr>
        </p:nvSpPr>
        <p:spPr/>
        <p:txBody>
          <a:bodyPr/>
          <a:lstStyle/>
          <a:p>
            <a:r>
              <a:rPr lang="en-US" dirty="0" smtClean="0"/>
              <a:t>Web Technologies</a:t>
            </a:r>
          </a:p>
          <a:p>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xmlns="" val="951005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Client Side Scripting </a:t>
            </a:r>
            <a:endParaRPr lang="en-US" dirty="0"/>
          </a:p>
        </p:txBody>
      </p:sp>
      <p:sp>
        <p:nvSpPr>
          <p:cNvPr id="3" name="Content Placeholder 2"/>
          <p:cNvSpPr>
            <a:spLocks noGrp="1"/>
          </p:cNvSpPr>
          <p:nvPr>
            <p:ph idx="1"/>
          </p:nvPr>
        </p:nvSpPr>
        <p:spPr>
          <a:xfrm>
            <a:off x="838200" y="1473958"/>
            <a:ext cx="10515600" cy="5213445"/>
          </a:xfrm>
        </p:spPr>
        <p:txBody>
          <a:bodyPr>
            <a:normAutofit fontScale="92500" lnSpcReduction="20000"/>
          </a:bodyPr>
          <a:lstStyle/>
          <a:p>
            <a:r>
              <a:rPr lang="en-US" b="1" dirty="0" smtClean="0"/>
              <a:t>Client side scripting</a:t>
            </a:r>
            <a:r>
              <a:rPr lang="en-US" dirty="0" smtClean="0"/>
              <a:t> is a process in which the code along with HTML web page is sent to the client by the server. Here, the code refers to the script.</a:t>
            </a:r>
          </a:p>
          <a:p>
            <a:r>
              <a:rPr lang="en-US" dirty="0" smtClean="0"/>
              <a:t>In other simple words, client side scripting is a process in which scripts are executed by browsers without connecting the server.</a:t>
            </a:r>
          </a:p>
          <a:p>
            <a:r>
              <a:rPr lang="en-US" dirty="0" smtClean="0"/>
              <a:t>The code executes on the browser of client’s computer either during the loading of web page or after the web page has been loaded.</a:t>
            </a:r>
          </a:p>
          <a:p>
            <a:r>
              <a:rPr lang="en-US" dirty="0" smtClean="0"/>
              <a:t>Client side scripting is mainly used for dynamic user interface elements, such as pull-down menus, navigation tools, animation buttons, data validation purpose, etc.</a:t>
            </a:r>
          </a:p>
          <a:p>
            <a:r>
              <a:rPr lang="en-US" dirty="0" smtClean="0"/>
              <a:t>JavaScript and jQuery are by far the most important client-side </a:t>
            </a:r>
            <a:r>
              <a:rPr lang="en-US" i="1" dirty="0" smtClean="0">
                <a:hlinkClick r:id="rId2"/>
              </a:rPr>
              <a:t>scripting languages</a:t>
            </a:r>
            <a:r>
              <a:rPr lang="en-US" dirty="0" smtClean="0"/>
              <a:t> or </a:t>
            </a:r>
            <a:r>
              <a:rPr lang="en-US" b="1" dirty="0" smtClean="0"/>
              <a:t>web scripting languages</a:t>
            </a:r>
            <a:r>
              <a:rPr lang="en-US" dirty="0" smtClean="0"/>
              <a:t> and widely used to create a dynamic and responsive webpage and websites.</a:t>
            </a:r>
          </a:p>
          <a:p>
            <a:r>
              <a:rPr lang="en-US" dirty="0" smtClean="0"/>
              <a:t>The browser (temporarily) downloads the code in the local computer and starts processing it without the server. Therefore, the client side scripting is browser dependent.</a:t>
            </a:r>
            <a:endParaRPr lang="en-US" dirty="0"/>
          </a:p>
        </p:txBody>
      </p:sp>
    </p:spTree>
    <p:extLst>
      <p:ext uri="{BB962C8B-B14F-4D97-AF65-F5344CB8AC3E}">
        <p14:creationId xmlns:p14="http://schemas.microsoft.com/office/powerpoint/2010/main" xmlns="" val="1528410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Client side Script?</a:t>
            </a:r>
            <a:br>
              <a:rPr lang="en-US" b="1" dirty="0" smtClean="0"/>
            </a:br>
            <a:endParaRPr lang="en-US" dirty="0"/>
          </a:p>
        </p:txBody>
      </p:sp>
      <p:sp>
        <p:nvSpPr>
          <p:cNvPr id="3" name="Content Placeholder 2"/>
          <p:cNvSpPr>
            <a:spLocks noGrp="1"/>
          </p:cNvSpPr>
          <p:nvPr>
            <p:ph idx="1"/>
          </p:nvPr>
        </p:nvSpPr>
        <p:spPr/>
        <p:txBody>
          <a:bodyPr/>
          <a:lstStyle/>
          <a:p>
            <a:r>
              <a:rPr lang="en-US" dirty="0" smtClean="0"/>
              <a:t>A </a:t>
            </a:r>
            <a:r>
              <a:rPr lang="en-US" b="1" dirty="0" smtClean="0"/>
              <a:t>client-side script</a:t>
            </a:r>
            <a:r>
              <a:rPr lang="en-US" dirty="0" smtClean="0"/>
              <a:t> is a small program (or set of instructions) that is embedded (or inserted) into a web page. It is processed within the client browser instead of the web server.</a:t>
            </a:r>
          </a:p>
          <a:p>
            <a:r>
              <a:rPr lang="en-US" dirty="0" smtClean="0"/>
              <a:t>The script that executes on the user’s computer system is called </a:t>
            </a:r>
            <a:r>
              <a:rPr lang="en-US" b="1" dirty="0" smtClean="0"/>
              <a:t>client</a:t>
            </a:r>
            <a:r>
              <a:rPr lang="en-US" dirty="0" smtClean="0"/>
              <a:t>. It is embedded (or inserted) within the HTML document or can be stored in an external separate file (known as external script).</a:t>
            </a:r>
          </a:p>
          <a:p>
            <a:r>
              <a:rPr lang="en-US" dirty="0" smtClean="0"/>
              <a:t>The script files are sent to the client machine from the web server (or severs) when they are requested. The client’s web browser executes the script, then displays the web page, including any visible output from the script.</a:t>
            </a:r>
            <a:endParaRPr lang="en-US" dirty="0"/>
          </a:p>
        </p:txBody>
      </p:sp>
    </p:spTree>
    <p:extLst>
      <p:ext uri="{BB962C8B-B14F-4D97-AF65-F5344CB8AC3E}">
        <p14:creationId xmlns:p14="http://schemas.microsoft.com/office/powerpoint/2010/main" xmlns="" val="758391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38199" y="122830"/>
            <a:ext cx="10898875" cy="6469039"/>
          </a:xfrm>
        </p:spPr>
      </p:pic>
    </p:spTree>
    <p:extLst>
      <p:ext uri="{BB962C8B-B14F-4D97-AF65-F5344CB8AC3E}">
        <p14:creationId xmlns:p14="http://schemas.microsoft.com/office/powerpoint/2010/main" xmlns="" val="2879966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Popular Client side Scripting Language</a:t>
            </a:r>
            <a:br>
              <a:rPr lang="en-US" b="1" dirty="0" smtClean="0"/>
            </a:br>
            <a:endParaRPr lang="en-US" dirty="0"/>
          </a:p>
        </p:txBody>
      </p:sp>
      <p:sp>
        <p:nvSpPr>
          <p:cNvPr id="3" name="Content Placeholder 2"/>
          <p:cNvSpPr>
            <a:spLocks noGrp="1"/>
          </p:cNvSpPr>
          <p:nvPr>
            <p:ph idx="1"/>
          </p:nvPr>
        </p:nvSpPr>
        <p:spPr/>
        <p:txBody>
          <a:bodyPr/>
          <a:lstStyle/>
          <a:p>
            <a:r>
              <a:rPr lang="en-US" dirty="0" smtClean="0"/>
              <a:t>A language in which a client side script or program is written using syntax is called </a:t>
            </a:r>
            <a:r>
              <a:rPr lang="en-US" b="1" dirty="0" smtClean="0"/>
              <a:t>client side scripting language</a:t>
            </a:r>
            <a:r>
              <a:rPr lang="en-US" dirty="0" smtClean="0"/>
              <a:t> or client side programming.</a:t>
            </a:r>
          </a:p>
          <a:p>
            <a:r>
              <a:rPr lang="en-US" dirty="0" smtClean="0"/>
              <a:t>The most popular client side scripting languages is as follows:</a:t>
            </a:r>
          </a:p>
          <a:p>
            <a:r>
              <a:rPr lang="en-US" b="1" dirty="0" smtClean="0"/>
              <a:t>1. JavaScript</a:t>
            </a:r>
          </a:p>
          <a:p>
            <a:r>
              <a:rPr lang="en-US" b="1" dirty="0" smtClean="0"/>
              <a:t>2. VBScript</a:t>
            </a:r>
          </a:p>
          <a:p>
            <a:r>
              <a:rPr lang="en-US" b="1" dirty="0" smtClean="0"/>
              <a:t>3. jQuery</a:t>
            </a:r>
            <a:endParaRPr lang="en-US" dirty="0"/>
          </a:p>
        </p:txBody>
      </p:sp>
    </p:spTree>
    <p:extLst>
      <p:ext uri="{BB962C8B-B14F-4D97-AF65-F5344CB8AC3E}">
        <p14:creationId xmlns:p14="http://schemas.microsoft.com/office/powerpoint/2010/main" xmlns="" val="1286373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JavaScript</a:t>
            </a:r>
            <a:endParaRPr lang="en-US" dirty="0"/>
          </a:p>
        </p:txBody>
      </p:sp>
      <p:sp>
        <p:nvSpPr>
          <p:cNvPr id="3" name="Content Placeholder 2"/>
          <p:cNvSpPr>
            <a:spLocks noGrp="1"/>
          </p:cNvSpPr>
          <p:nvPr>
            <p:ph idx="1"/>
          </p:nvPr>
        </p:nvSpPr>
        <p:spPr/>
        <p:txBody>
          <a:bodyPr/>
          <a:lstStyle/>
          <a:p>
            <a:r>
              <a:rPr lang="en-US" b="1" dirty="0"/>
              <a:t>JavaScript</a:t>
            </a:r>
            <a:r>
              <a:rPr lang="en-US" b="1" dirty="0" smtClean="0"/>
              <a:t>:</a:t>
            </a:r>
            <a:r>
              <a:rPr lang="en-US" dirty="0" smtClean="0"/>
              <a:t> It is the most widely client side scripting or programming language. It is based on </a:t>
            </a:r>
            <a:r>
              <a:rPr lang="en-US" dirty="0" err="1" smtClean="0"/>
              <a:t>ECMAScript</a:t>
            </a:r>
            <a:r>
              <a:rPr lang="en-US" dirty="0" smtClean="0"/>
              <a:t> standard language.</a:t>
            </a:r>
          </a:p>
          <a:p>
            <a:r>
              <a:rPr lang="en-US" i="1" dirty="0" smtClean="0">
                <a:hlinkClick r:id="rId2"/>
              </a:rPr>
              <a:t>JavaScript</a:t>
            </a:r>
            <a:r>
              <a:rPr lang="en-US" dirty="0" smtClean="0"/>
              <a:t> is an object based oriented, dynamically typed (or also called weakly typed) scripting language. It runs directly on the browser with the help of an inbuilt interpreter.</a:t>
            </a:r>
          </a:p>
          <a:p>
            <a:r>
              <a:rPr lang="en-US" dirty="0" smtClean="0"/>
              <a:t>Here, weakly typed means the variables are easily converted implicitly from one data type to another.</a:t>
            </a:r>
          </a:p>
          <a:p>
            <a:endParaRPr lang="en-US" dirty="0"/>
          </a:p>
        </p:txBody>
      </p:sp>
    </p:spTree>
    <p:extLst>
      <p:ext uri="{BB962C8B-B14F-4D97-AF65-F5344CB8AC3E}">
        <p14:creationId xmlns:p14="http://schemas.microsoft.com/office/powerpoint/2010/main" xmlns="" val="2617524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VBScript and JQuery</a:t>
            </a:r>
            <a:endParaRPr lang="en-US" dirty="0"/>
          </a:p>
        </p:txBody>
      </p:sp>
      <p:sp>
        <p:nvSpPr>
          <p:cNvPr id="3" name="Content Placeholder 2"/>
          <p:cNvSpPr>
            <a:spLocks noGrp="1"/>
          </p:cNvSpPr>
          <p:nvPr>
            <p:ph idx="1"/>
          </p:nvPr>
        </p:nvSpPr>
        <p:spPr/>
        <p:txBody>
          <a:bodyPr/>
          <a:lstStyle/>
          <a:p>
            <a:r>
              <a:rPr lang="en-US" b="1" dirty="0"/>
              <a:t>VBScript</a:t>
            </a:r>
            <a:r>
              <a:rPr lang="en-US" b="1" dirty="0" smtClean="0"/>
              <a:t>:</a:t>
            </a:r>
            <a:r>
              <a:rPr lang="en-US" dirty="0" smtClean="0"/>
              <a:t> This scripting language is developed by Microsoft, based on the Visual Basic. It is basically used to enhance the features of web pages in Internet Explorer. VBScript is interpreted by Internet Explorer web browser.</a:t>
            </a:r>
          </a:p>
          <a:p>
            <a:r>
              <a:rPr lang="en-US" b="1" dirty="0"/>
              <a:t>jQuery</a:t>
            </a:r>
            <a:r>
              <a:rPr lang="en-US" b="1" dirty="0" smtClean="0"/>
              <a:t>:</a:t>
            </a:r>
            <a:r>
              <a:rPr lang="en-US" dirty="0" smtClean="0"/>
              <a:t> jQuery is a fast, small, lightweight JavaScript library. It is used to facilitate a lot of JavaScript code into simple-to-use-functionality.</a:t>
            </a:r>
          </a:p>
          <a:p>
            <a:r>
              <a:rPr lang="en-US" dirty="0" smtClean="0"/>
              <a:t>Most of the biggest companies such as Google, Microsoft, IBM, Netflix, etc. on the Web are using jQuery language</a:t>
            </a:r>
          </a:p>
          <a:p>
            <a:endParaRPr lang="en-US" dirty="0"/>
          </a:p>
        </p:txBody>
      </p:sp>
    </p:spTree>
    <p:extLst>
      <p:ext uri="{BB962C8B-B14F-4D97-AF65-F5344CB8AC3E}">
        <p14:creationId xmlns:p14="http://schemas.microsoft.com/office/powerpoint/2010/main" xmlns="" val="4227604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JavaScript</a:t>
            </a:r>
          </a:p>
        </p:txBody>
      </p:sp>
      <p:sp>
        <p:nvSpPr>
          <p:cNvPr id="3" name="Content Placeholder 2"/>
          <p:cNvSpPr>
            <a:spLocks noGrp="1"/>
          </p:cNvSpPr>
          <p:nvPr>
            <p:ph idx="1"/>
          </p:nvPr>
        </p:nvSpPr>
        <p:spPr/>
        <p:txBody>
          <a:bodyPr/>
          <a:lstStyle/>
          <a:p>
            <a:r>
              <a:rPr lang="en-US" b="1" dirty="0"/>
              <a:t>JavaScript</a:t>
            </a:r>
            <a:r>
              <a:rPr lang="en-US" dirty="0"/>
              <a:t> is a lightweight, cross-platform, and interpreted compiled programming language which is also known as the scripting language for webpages. </a:t>
            </a:r>
            <a:endParaRPr lang="en-US" dirty="0" smtClean="0"/>
          </a:p>
          <a:p>
            <a:r>
              <a:rPr lang="en-US" dirty="0" smtClean="0"/>
              <a:t>It </a:t>
            </a:r>
            <a:r>
              <a:rPr lang="en-US" dirty="0"/>
              <a:t>is well-known for the development of web pages, many non-browser environments also use it. </a:t>
            </a:r>
            <a:endParaRPr lang="en-US" dirty="0" smtClean="0"/>
          </a:p>
          <a:p>
            <a:r>
              <a:rPr lang="en-US" dirty="0" smtClean="0"/>
              <a:t>JavaScript </a:t>
            </a:r>
            <a:r>
              <a:rPr lang="en-US" dirty="0"/>
              <a:t>can be used for </a:t>
            </a:r>
            <a:r>
              <a:rPr lang="en-US" b="1" dirty="0">
                <a:hlinkClick r:id="rId2"/>
              </a:rPr>
              <a:t>Client-side</a:t>
            </a:r>
            <a:r>
              <a:rPr lang="en-US" dirty="0"/>
              <a:t> developments as well as </a:t>
            </a:r>
            <a:r>
              <a:rPr lang="en-US" b="1" dirty="0">
                <a:hlinkClick r:id="rId2"/>
              </a:rPr>
              <a:t>Server-side</a:t>
            </a:r>
            <a:r>
              <a:rPr lang="en-US" dirty="0"/>
              <a:t> developments</a:t>
            </a:r>
            <a:r>
              <a:rPr lang="en-US" dirty="0" smtClean="0"/>
              <a:t>.</a:t>
            </a:r>
          </a:p>
          <a:p>
            <a:r>
              <a:rPr lang="en-US" dirty="0"/>
              <a:t>JavaScript contains a standard library of objects, like </a:t>
            </a:r>
            <a:r>
              <a:rPr lang="en-US" b="1" dirty="0">
                <a:hlinkClick r:id="rId3"/>
              </a:rPr>
              <a:t>Array</a:t>
            </a:r>
            <a:r>
              <a:rPr lang="en-US" dirty="0"/>
              <a:t>, </a:t>
            </a:r>
            <a:r>
              <a:rPr lang="en-US" b="1" dirty="0">
                <a:hlinkClick r:id="rId4"/>
              </a:rPr>
              <a:t>Date</a:t>
            </a:r>
            <a:r>
              <a:rPr lang="en-US" dirty="0"/>
              <a:t>, and </a:t>
            </a:r>
            <a:r>
              <a:rPr lang="en-US" b="1" dirty="0">
                <a:hlinkClick r:id="rId5"/>
              </a:rPr>
              <a:t>Math</a:t>
            </a:r>
            <a:r>
              <a:rPr lang="en-US" dirty="0"/>
              <a:t>, and a core set of language elements like </a:t>
            </a:r>
            <a:r>
              <a:rPr lang="en-US" b="1" dirty="0">
                <a:hlinkClick r:id="rId6"/>
              </a:rPr>
              <a:t>operators</a:t>
            </a:r>
            <a:r>
              <a:rPr lang="en-US" dirty="0"/>
              <a:t>, </a:t>
            </a:r>
            <a:r>
              <a:rPr lang="en-US" b="1" dirty="0"/>
              <a:t>control structures</a:t>
            </a:r>
            <a:r>
              <a:rPr lang="en-US" dirty="0"/>
              <a:t>, and </a:t>
            </a:r>
            <a:r>
              <a:rPr lang="en-US" b="1" dirty="0">
                <a:hlinkClick r:id="rId7"/>
              </a:rPr>
              <a:t>statements</a:t>
            </a:r>
            <a:r>
              <a:rPr lang="en-US" dirty="0"/>
              <a:t>. </a:t>
            </a:r>
          </a:p>
        </p:txBody>
      </p:sp>
    </p:spTree>
    <p:extLst>
      <p:ext uri="{BB962C8B-B14F-4D97-AF65-F5344CB8AC3E}">
        <p14:creationId xmlns:p14="http://schemas.microsoft.com/office/powerpoint/2010/main" xmlns="" val="6306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xmlns="" val="3353640295"/>
              </p:ext>
            </p:extLst>
          </p:nvPr>
        </p:nvGraphicFramePr>
        <p:xfrm>
          <a:off x="524302" y="378962"/>
          <a:ext cx="10515600" cy="4079240"/>
        </p:xfrm>
        <a:graphic>
          <a:graphicData uri="http://schemas.openxmlformats.org/drawingml/2006/table">
            <a:tbl>
              <a:tblPr firstRow="1" bandRow="1">
                <a:tableStyleId>{5C22544A-7EE6-4342-B048-85BDC9FD1C3A}</a:tableStyleId>
              </a:tblPr>
              <a:tblGrid>
                <a:gridCol w="2150660"/>
                <a:gridCol w="1965277"/>
                <a:gridCol w="6399663"/>
              </a:tblGrid>
              <a:tr h="370840">
                <a:tc>
                  <a:txBody>
                    <a:bodyPr/>
                    <a:lstStyle/>
                    <a:p>
                      <a:r>
                        <a:rPr lang="en-US" dirty="0"/>
                        <a:t>Year</a:t>
                      </a:r>
                    </a:p>
                  </a:txBody>
                  <a:tcPr anchor="ctr"/>
                </a:tc>
                <a:tc>
                  <a:txBody>
                    <a:bodyPr/>
                    <a:lstStyle/>
                    <a:p>
                      <a:r>
                        <a:rPr lang="en-US"/>
                        <a:t>ECMA</a:t>
                      </a:r>
                    </a:p>
                  </a:txBody>
                  <a:tcPr anchor="ctr"/>
                </a:tc>
                <a:tc>
                  <a:txBody>
                    <a:bodyPr/>
                    <a:lstStyle/>
                    <a:p>
                      <a:r>
                        <a:rPr lang="en-US"/>
                        <a:t>Browser</a:t>
                      </a:r>
                    </a:p>
                  </a:txBody>
                  <a:tcPr anchor="ctr"/>
                </a:tc>
              </a:tr>
              <a:tr h="370840">
                <a:tc>
                  <a:txBody>
                    <a:bodyPr/>
                    <a:lstStyle/>
                    <a:p>
                      <a:r>
                        <a:rPr lang="en-US"/>
                        <a:t>1995</a:t>
                      </a:r>
                    </a:p>
                  </a:txBody>
                  <a:tcPr anchor="ctr"/>
                </a:tc>
                <a:tc>
                  <a:txBody>
                    <a:bodyPr/>
                    <a:lstStyle/>
                    <a:p>
                      <a:r>
                        <a:rPr lang="en-US" dirty="0"/>
                        <a:t> </a:t>
                      </a:r>
                    </a:p>
                  </a:txBody>
                  <a:tcPr anchor="ctr"/>
                </a:tc>
                <a:tc>
                  <a:txBody>
                    <a:bodyPr/>
                    <a:lstStyle/>
                    <a:p>
                      <a:r>
                        <a:rPr lang="en-US"/>
                        <a:t>JavaScript was invented by Brendan Eich</a:t>
                      </a:r>
                    </a:p>
                  </a:txBody>
                  <a:tcPr anchor="ctr"/>
                </a:tc>
              </a:tr>
              <a:tr h="370840">
                <a:tc>
                  <a:txBody>
                    <a:bodyPr/>
                    <a:lstStyle/>
                    <a:p>
                      <a:r>
                        <a:rPr lang="en-US"/>
                        <a:t>1997</a:t>
                      </a:r>
                    </a:p>
                  </a:txBody>
                  <a:tcPr anchor="ctr"/>
                </a:tc>
                <a:tc>
                  <a:txBody>
                    <a:bodyPr/>
                    <a:lstStyle/>
                    <a:p>
                      <a:r>
                        <a:rPr lang="en-US"/>
                        <a:t> </a:t>
                      </a:r>
                    </a:p>
                  </a:txBody>
                  <a:tcPr anchor="ctr"/>
                </a:tc>
                <a:tc>
                  <a:txBody>
                    <a:bodyPr/>
                    <a:lstStyle/>
                    <a:p>
                      <a:r>
                        <a:rPr lang="en-US" dirty="0"/>
                        <a:t>JavaScript became an ECMA standard (ECMA-262)</a:t>
                      </a:r>
                    </a:p>
                  </a:txBody>
                  <a:tcPr anchor="ctr"/>
                </a:tc>
              </a:tr>
              <a:tr h="370840">
                <a:tc>
                  <a:txBody>
                    <a:bodyPr/>
                    <a:lstStyle/>
                    <a:p>
                      <a:r>
                        <a:rPr lang="en-US"/>
                        <a:t>1997</a:t>
                      </a:r>
                    </a:p>
                  </a:txBody>
                  <a:tcPr anchor="ctr"/>
                </a:tc>
                <a:tc>
                  <a:txBody>
                    <a:bodyPr/>
                    <a:lstStyle/>
                    <a:p>
                      <a:r>
                        <a:rPr lang="en-US"/>
                        <a:t>ES1</a:t>
                      </a:r>
                    </a:p>
                  </a:txBody>
                  <a:tcPr anchor="ctr"/>
                </a:tc>
                <a:tc>
                  <a:txBody>
                    <a:bodyPr/>
                    <a:lstStyle/>
                    <a:p>
                      <a:r>
                        <a:rPr lang="en-US" dirty="0" err="1"/>
                        <a:t>ECMAScript</a:t>
                      </a:r>
                      <a:r>
                        <a:rPr lang="en-US" dirty="0"/>
                        <a:t> 1 was released</a:t>
                      </a:r>
                    </a:p>
                  </a:txBody>
                  <a:tcPr anchor="ctr"/>
                </a:tc>
              </a:tr>
              <a:tr h="370840">
                <a:tc>
                  <a:txBody>
                    <a:bodyPr/>
                    <a:lstStyle/>
                    <a:p>
                      <a:r>
                        <a:rPr lang="en-US"/>
                        <a:t>1998</a:t>
                      </a:r>
                    </a:p>
                  </a:txBody>
                  <a:tcPr anchor="ctr"/>
                </a:tc>
                <a:tc>
                  <a:txBody>
                    <a:bodyPr/>
                    <a:lstStyle/>
                    <a:p>
                      <a:r>
                        <a:rPr lang="en-US"/>
                        <a:t>ES2</a:t>
                      </a:r>
                    </a:p>
                  </a:txBody>
                  <a:tcPr anchor="ctr"/>
                </a:tc>
                <a:tc>
                  <a:txBody>
                    <a:bodyPr/>
                    <a:lstStyle/>
                    <a:p>
                      <a:r>
                        <a:rPr lang="en-US" dirty="0" err="1"/>
                        <a:t>ECMAScript</a:t>
                      </a:r>
                      <a:r>
                        <a:rPr lang="en-US" dirty="0"/>
                        <a:t> 2 was released</a:t>
                      </a:r>
                    </a:p>
                  </a:txBody>
                  <a:tcPr anchor="ctr"/>
                </a:tc>
              </a:tr>
              <a:tr h="370840">
                <a:tc>
                  <a:txBody>
                    <a:bodyPr/>
                    <a:lstStyle/>
                    <a:p>
                      <a:r>
                        <a:rPr lang="en-US"/>
                        <a:t>1999</a:t>
                      </a:r>
                    </a:p>
                  </a:txBody>
                  <a:tcPr anchor="ctr"/>
                </a:tc>
                <a:tc>
                  <a:txBody>
                    <a:bodyPr/>
                    <a:lstStyle/>
                    <a:p>
                      <a:r>
                        <a:rPr lang="en-US"/>
                        <a:t>ES3</a:t>
                      </a:r>
                    </a:p>
                  </a:txBody>
                  <a:tcPr anchor="ctr"/>
                </a:tc>
                <a:tc>
                  <a:txBody>
                    <a:bodyPr/>
                    <a:lstStyle/>
                    <a:p>
                      <a:r>
                        <a:rPr lang="en-US" dirty="0" err="1"/>
                        <a:t>ECMAScript</a:t>
                      </a:r>
                      <a:r>
                        <a:rPr lang="en-US" dirty="0"/>
                        <a:t> 3 was released</a:t>
                      </a:r>
                    </a:p>
                  </a:txBody>
                  <a:tcPr anchor="ctr"/>
                </a:tc>
              </a:tr>
              <a:tr h="370840">
                <a:tc>
                  <a:txBody>
                    <a:bodyPr/>
                    <a:lstStyle/>
                    <a:p>
                      <a:r>
                        <a:rPr lang="en-US"/>
                        <a:t>2008</a:t>
                      </a:r>
                    </a:p>
                  </a:txBody>
                  <a:tcPr anchor="ctr"/>
                </a:tc>
                <a:tc>
                  <a:txBody>
                    <a:bodyPr/>
                    <a:lstStyle/>
                    <a:p>
                      <a:r>
                        <a:rPr lang="en-US"/>
                        <a:t>ES4</a:t>
                      </a:r>
                    </a:p>
                  </a:txBody>
                  <a:tcPr anchor="ctr"/>
                </a:tc>
                <a:tc>
                  <a:txBody>
                    <a:bodyPr/>
                    <a:lstStyle/>
                    <a:p>
                      <a:r>
                        <a:rPr lang="en-US" dirty="0" err="1"/>
                        <a:t>ECMAScript</a:t>
                      </a:r>
                      <a:r>
                        <a:rPr lang="en-US" dirty="0"/>
                        <a:t> 4 was abandoned</a:t>
                      </a:r>
                    </a:p>
                  </a:txBody>
                  <a:tcPr anchor="ctr"/>
                </a:tc>
              </a:tr>
              <a:tr h="370840">
                <a:tc>
                  <a:txBody>
                    <a:bodyPr/>
                    <a:lstStyle/>
                    <a:p>
                      <a:r>
                        <a:rPr lang="en-US" dirty="0"/>
                        <a:t>2009</a:t>
                      </a:r>
                    </a:p>
                  </a:txBody>
                  <a:tcPr anchor="ctr"/>
                </a:tc>
                <a:tc>
                  <a:txBody>
                    <a:bodyPr/>
                    <a:lstStyle/>
                    <a:p>
                      <a:r>
                        <a:rPr lang="en-US"/>
                        <a:t>ES5</a:t>
                      </a:r>
                    </a:p>
                  </a:txBody>
                  <a:tcPr anchor="ctr"/>
                </a:tc>
                <a:tc>
                  <a:txBody>
                    <a:bodyPr/>
                    <a:lstStyle/>
                    <a:p>
                      <a:r>
                        <a:rPr lang="en-US" dirty="0" err="1"/>
                        <a:t>ECMAScript</a:t>
                      </a:r>
                      <a:r>
                        <a:rPr lang="en-US" dirty="0"/>
                        <a:t> 5 was released</a:t>
                      </a:r>
                    </a:p>
                  </a:txBody>
                  <a:tcPr anchor="ctr"/>
                </a:tc>
              </a:tr>
              <a:tr h="370840">
                <a:tc>
                  <a:txBody>
                    <a:bodyPr/>
                    <a:lstStyle/>
                    <a:p>
                      <a:r>
                        <a:rPr lang="en-US"/>
                        <a:t>2015</a:t>
                      </a:r>
                    </a:p>
                  </a:txBody>
                  <a:tcPr anchor="ctr"/>
                </a:tc>
                <a:tc>
                  <a:txBody>
                    <a:bodyPr/>
                    <a:lstStyle/>
                    <a:p>
                      <a:r>
                        <a:rPr lang="en-US"/>
                        <a:t>ES6</a:t>
                      </a:r>
                    </a:p>
                  </a:txBody>
                  <a:tcPr anchor="ctr"/>
                </a:tc>
                <a:tc>
                  <a:txBody>
                    <a:bodyPr/>
                    <a:lstStyle/>
                    <a:p>
                      <a:r>
                        <a:rPr lang="en-US" dirty="0" err="1"/>
                        <a:t>ECMAScript</a:t>
                      </a:r>
                      <a:r>
                        <a:rPr lang="en-US" dirty="0"/>
                        <a:t> 6 was released</a:t>
                      </a:r>
                    </a:p>
                  </a:txBody>
                  <a:tcPr anchor="ctr"/>
                </a:tc>
              </a:tr>
              <a:tr h="370840">
                <a:tc>
                  <a:txBody>
                    <a:bodyPr/>
                    <a:lstStyle/>
                    <a:p>
                      <a:r>
                        <a:rPr lang="en-US"/>
                        <a:t>2017</a:t>
                      </a:r>
                    </a:p>
                  </a:txBody>
                  <a:tcPr anchor="ctr"/>
                </a:tc>
                <a:tc>
                  <a:txBody>
                    <a:bodyPr/>
                    <a:lstStyle/>
                    <a:p>
                      <a:r>
                        <a:rPr lang="en-US"/>
                        <a:t>ES6</a:t>
                      </a:r>
                    </a:p>
                  </a:txBody>
                  <a:tcPr anchor="ctr"/>
                </a:tc>
                <a:tc>
                  <a:txBody>
                    <a:bodyPr/>
                    <a:lstStyle/>
                    <a:p>
                      <a:r>
                        <a:rPr lang="en-US"/>
                        <a:t>Full support for ES6 in Edge 15</a:t>
                      </a:r>
                    </a:p>
                  </a:txBody>
                  <a:tcPr anchor="ctr"/>
                </a:tc>
              </a:tr>
              <a:tr h="370840">
                <a:tc>
                  <a:txBody>
                    <a:bodyPr/>
                    <a:lstStyle/>
                    <a:p>
                      <a:r>
                        <a:rPr lang="en-US"/>
                        <a:t>2018</a:t>
                      </a:r>
                    </a:p>
                  </a:txBody>
                  <a:tcPr anchor="ctr"/>
                </a:tc>
                <a:tc>
                  <a:txBody>
                    <a:bodyPr/>
                    <a:lstStyle/>
                    <a:p>
                      <a:r>
                        <a:rPr lang="en-US"/>
                        <a:t>ES6</a:t>
                      </a:r>
                    </a:p>
                  </a:txBody>
                  <a:tcPr anchor="ctr"/>
                </a:tc>
                <a:tc>
                  <a:txBody>
                    <a:bodyPr/>
                    <a:lstStyle/>
                    <a:p>
                      <a:r>
                        <a:rPr lang="en-US" dirty="0"/>
                        <a:t>Full support for ES6 in all browsers **</a:t>
                      </a:r>
                    </a:p>
                  </a:txBody>
                  <a:tcPr anchor="ctr"/>
                </a:tc>
              </a:tr>
            </a:tbl>
          </a:graphicData>
        </a:graphic>
      </p:graphicFrame>
    </p:spTree>
    <p:extLst>
      <p:ext uri="{BB962C8B-B14F-4D97-AF65-F5344CB8AC3E}">
        <p14:creationId xmlns:p14="http://schemas.microsoft.com/office/powerpoint/2010/main" xmlns="" val="377254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912"/>
            <a:ext cx="10515600" cy="1325563"/>
          </a:xfrm>
        </p:spPr>
        <p:txBody>
          <a:bodyPr/>
          <a:lstStyle/>
          <a:p>
            <a:r>
              <a:rPr lang="en-US" b="1" dirty="0"/>
              <a:t>Features of </a:t>
            </a:r>
            <a:r>
              <a:rPr lang="en-US" b="1" dirty="0" smtClean="0"/>
              <a:t>JavaScript</a:t>
            </a:r>
            <a:endParaRPr lang="en-US" dirty="0"/>
          </a:p>
        </p:txBody>
      </p:sp>
      <p:sp>
        <p:nvSpPr>
          <p:cNvPr id="3" name="Content Placeholder 2"/>
          <p:cNvSpPr>
            <a:spLocks noGrp="1"/>
          </p:cNvSpPr>
          <p:nvPr>
            <p:ph idx="1"/>
          </p:nvPr>
        </p:nvSpPr>
        <p:spPr>
          <a:xfrm>
            <a:off x="838200" y="1214651"/>
            <a:ext cx="10515600" cy="4962312"/>
          </a:xfrm>
        </p:spPr>
        <p:txBody>
          <a:bodyPr/>
          <a:lstStyle/>
          <a:p>
            <a:r>
              <a:rPr lang="en-US" dirty="0"/>
              <a:t>With advances in browser technology and JavaScript having moved into the server with Node.js and other frameworks, JavaScript is capable of so much more</a:t>
            </a:r>
            <a:r>
              <a:rPr lang="en-US" dirty="0" smtClean="0"/>
              <a:t>.</a:t>
            </a:r>
          </a:p>
          <a:p>
            <a:r>
              <a:rPr lang="en-US" dirty="0"/>
              <a:t>few things that we can do with JavaScript: </a:t>
            </a:r>
          </a:p>
          <a:p>
            <a:r>
              <a:rPr lang="en-US" dirty="0"/>
              <a:t>JavaScript was created in the first place for DOM </a:t>
            </a:r>
            <a:r>
              <a:rPr lang="en-US" dirty="0" smtClean="0"/>
              <a:t>manipulation.</a:t>
            </a:r>
          </a:p>
          <a:p>
            <a:r>
              <a:rPr lang="en-US" dirty="0"/>
              <a:t>Functions in JS are objects. They may have properties and methods just like another object. </a:t>
            </a:r>
            <a:endParaRPr lang="en-US" dirty="0" smtClean="0"/>
          </a:p>
          <a:p>
            <a:r>
              <a:rPr lang="en-US" dirty="0"/>
              <a:t>Can handle date and time.</a:t>
            </a:r>
          </a:p>
          <a:p>
            <a:r>
              <a:rPr lang="en-US" dirty="0"/>
              <a:t>Performs Form Validation although the forms are created using HTML.</a:t>
            </a:r>
          </a:p>
          <a:p>
            <a:r>
              <a:rPr lang="en-US" dirty="0"/>
              <a:t>No compiler is needed.</a:t>
            </a:r>
          </a:p>
          <a:p>
            <a:endParaRPr lang="en-US" dirty="0"/>
          </a:p>
        </p:txBody>
      </p:sp>
    </p:spTree>
    <p:extLst>
      <p:ext uri="{BB962C8B-B14F-4D97-AF65-F5344CB8AC3E}">
        <p14:creationId xmlns:p14="http://schemas.microsoft.com/office/powerpoint/2010/main" xmlns="" val="1490805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a:t>
            </a:r>
            <a:r>
              <a:rPr lang="en-US" b="1" dirty="0" smtClean="0"/>
              <a:t>JavaScript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Web Development:</a:t>
            </a:r>
            <a:r>
              <a:rPr lang="en-US" dirty="0"/>
              <a:t> Adding interactivity and behavior to static sites JavaScript was invented to do this in 1995</a:t>
            </a:r>
            <a:r>
              <a:rPr lang="en-US" dirty="0" smtClean="0"/>
              <a:t>.</a:t>
            </a:r>
          </a:p>
          <a:p>
            <a:r>
              <a:rPr lang="en-US" b="1" dirty="0"/>
              <a:t>Web Applications:</a:t>
            </a:r>
            <a:r>
              <a:rPr lang="en-US" dirty="0"/>
              <a:t> With technology, browsers have improved to the extent that a language was required to create robust web applications. </a:t>
            </a:r>
            <a:endParaRPr lang="en-US" dirty="0" smtClean="0"/>
          </a:p>
          <a:p>
            <a:r>
              <a:rPr lang="en-US" b="1" dirty="0"/>
              <a:t>Server </a:t>
            </a:r>
            <a:r>
              <a:rPr lang="en-US" b="1" dirty="0" smtClean="0"/>
              <a:t>Applications</a:t>
            </a:r>
          </a:p>
          <a:p>
            <a:r>
              <a:rPr lang="en-US" b="1" dirty="0" smtClean="0"/>
              <a:t>Games</a:t>
            </a:r>
          </a:p>
          <a:p>
            <a:r>
              <a:rPr lang="en-US" b="1" dirty="0" err="1" smtClean="0"/>
              <a:t>Smartwatches</a:t>
            </a:r>
            <a:endParaRPr lang="en-US" b="1" dirty="0" smtClean="0"/>
          </a:p>
          <a:p>
            <a:r>
              <a:rPr lang="en-US" b="1" dirty="0" smtClean="0"/>
              <a:t>Art</a:t>
            </a:r>
          </a:p>
          <a:p>
            <a:r>
              <a:rPr lang="en-US" b="1" dirty="0"/>
              <a:t>Machine </a:t>
            </a:r>
            <a:r>
              <a:rPr lang="en-US" b="1" dirty="0" smtClean="0"/>
              <a:t>Learning</a:t>
            </a:r>
          </a:p>
          <a:p>
            <a:r>
              <a:rPr lang="en-US" b="1" dirty="0"/>
              <a:t>Mobile </a:t>
            </a:r>
            <a:r>
              <a:rPr lang="en-US" b="1" dirty="0" smtClean="0"/>
              <a:t>Applications </a:t>
            </a:r>
            <a:endParaRPr lang="en-US" dirty="0"/>
          </a:p>
        </p:txBody>
      </p:sp>
    </p:spTree>
    <p:extLst>
      <p:ext uri="{BB962C8B-B14F-4D97-AF65-F5344CB8AC3E}">
        <p14:creationId xmlns:p14="http://schemas.microsoft.com/office/powerpoint/2010/main" xmlns="" val="312449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Where to put JavaScript in an HTML Document ?</a:t>
            </a:r>
            <a:br>
              <a:rPr lang="en-US" b="1" dirty="0"/>
            </a:br>
            <a:endParaRPr lang="en-US" dirty="0"/>
          </a:p>
        </p:txBody>
      </p:sp>
      <p:sp>
        <p:nvSpPr>
          <p:cNvPr id="3" name="Content Placeholder 2"/>
          <p:cNvSpPr>
            <a:spLocks noGrp="1"/>
          </p:cNvSpPr>
          <p:nvPr>
            <p:ph idx="1"/>
          </p:nvPr>
        </p:nvSpPr>
        <p:spPr/>
        <p:txBody>
          <a:bodyPr/>
          <a:lstStyle/>
          <a:p>
            <a:r>
              <a:rPr lang="en-US" dirty="0"/>
              <a:t>Scripts can be placed inside the </a:t>
            </a:r>
            <a:r>
              <a:rPr lang="en-US" b="1" dirty="0"/>
              <a:t>body</a:t>
            </a:r>
            <a:r>
              <a:rPr lang="en-US" dirty="0"/>
              <a:t> or the </a:t>
            </a:r>
            <a:r>
              <a:rPr lang="en-US" b="1" dirty="0"/>
              <a:t>head</a:t>
            </a:r>
            <a:r>
              <a:rPr lang="en-US" dirty="0"/>
              <a:t> section of an HTML page or inside both the head and body. </a:t>
            </a:r>
            <a:endParaRPr lang="en-US" dirty="0" smtClean="0"/>
          </a:p>
          <a:p>
            <a:r>
              <a:rPr lang="en-US" dirty="0" smtClean="0"/>
              <a:t>We </a:t>
            </a:r>
            <a:r>
              <a:rPr lang="en-US" dirty="0"/>
              <a:t>can also place </a:t>
            </a:r>
            <a:r>
              <a:rPr lang="en-US" dirty="0" err="1"/>
              <a:t>javascript</a:t>
            </a:r>
            <a:r>
              <a:rPr lang="en-US" dirty="0"/>
              <a:t> outside the HTML file which can be linked by specifying its source in the script tag.</a:t>
            </a:r>
          </a:p>
        </p:txBody>
      </p:sp>
    </p:spTree>
    <p:extLst>
      <p:ext uri="{BB962C8B-B14F-4D97-AF65-F5344CB8AC3E}">
        <p14:creationId xmlns:p14="http://schemas.microsoft.com/office/powerpoint/2010/main" xmlns="" val="3130796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36" y="0"/>
            <a:ext cx="10515600" cy="1325563"/>
          </a:xfrm>
        </p:spPr>
        <p:txBody>
          <a:bodyPr/>
          <a:lstStyle/>
          <a:p>
            <a:r>
              <a:rPr lang="en-US" b="1" dirty="0"/>
              <a:t>JavaScript in head</a:t>
            </a:r>
            <a:endParaRPr lang="en-US" dirty="0"/>
          </a:p>
        </p:txBody>
      </p:sp>
      <p:sp>
        <p:nvSpPr>
          <p:cNvPr id="4" name="Rectangle 1"/>
          <p:cNvSpPr>
            <a:spLocks noGrp="1" noChangeArrowheads="1"/>
          </p:cNvSpPr>
          <p:nvPr>
            <p:ph idx="1"/>
          </p:nvPr>
        </p:nvSpPr>
        <p:spPr bwMode="auto">
          <a:xfrm>
            <a:off x="838200" y="1092823"/>
            <a:ext cx="8502649" cy="58169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html&gt;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&lt;head&gt;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&lt;script&gt;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function </a:t>
            </a:r>
            <a:r>
              <a:rPr kumimoji="0" lang="en-US" sz="1800" b="0" i="0" u="none" strike="noStrike" cap="none" normalizeH="0" baseline="0" dirty="0" err="1" smtClean="0">
                <a:ln>
                  <a:noFill/>
                </a:ln>
                <a:solidFill>
                  <a:schemeClr val="tx1"/>
                </a:solidFill>
                <a:effectLst/>
                <a:latin typeface="Arial Unicode MS" panose="020B0604020202020204" pitchFamily="34" charset="-128"/>
              </a:rPr>
              <a:t>gfg</a:t>
            </a:r>
            <a:r>
              <a:rPr kumimoji="0" lang="en-US" sz="1800" b="0" i="0" u="none" strike="noStrike" cap="none" normalizeH="0" baseline="0" dirty="0" smtClean="0">
                <a:ln>
                  <a:noFill/>
                </a:ln>
                <a:solidFill>
                  <a:schemeClr val="tx1"/>
                </a:solidFill>
                <a:effectLst/>
                <a:latin typeface="Arial Unicode MS" panose="020B0604020202020204" pitchFamily="34" charset="-128"/>
              </a:rPr>
              <a:t>() {</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a:t>
            </a:r>
            <a:r>
              <a:rPr kumimoji="0" lang="en-US" sz="1800" b="0" i="0" u="none" strike="noStrike" cap="none" normalizeH="0" baseline="0" dirty="0" err="1" smtClean="0">
                <a:ln>
                  <a:noFill/>
                </a:ln>
                <a:solidFill>
                  <a:schemeClr val="tx1"/>
                </a:solidFill>
                <a:effectLst/>
                <a:latin typeface="Arial Unicode MS" panose="020B0604020202020204" pitchFamily="34" charset="-128"/>
              </a:rPr>
              <a:t>document.getElementById</a:t>
            </a:r>
            <a:r>
              <a:rPr kumimoji="0" lang="en-US" sz="1800" b="0" i="0" u="none" strike="noStrike" cap="none" normalizeH="0" baseline="0" dirty="0" smtClean="0">
                <a:ln>
                  <a:noFill/>
                </a:ln>
                <a:solidFill>
                  <a:schemeClr val="tx1"/>
                </a:solidFill>
                <a:effectLst/>
                <a:latin typeface="Arial Unicode MS" panose="020B0604020202020204" pitchFamily="34" charset="-128"/>
              </a:rPr>
              <a:t>("demo").</a:t>
            </a:r>
            <a:r>
              <a:rPr kumimoji="0" lang="en-US" sz="1800" b="0" i="0" u="none" strike="noStrike" cap="none" normalizeH="0" baseline="0" dirty="0" err="1" smtClean="0">
                <a:ln>
                  <a:noFill/>
                </a:ln>
                <a:solidFill>
                  <a:schemeClr val="tx1"/>
                </a:solidFill>
                <a:effectLst/>
                <a:latin typeface="Arial Unicode MS" panose="020B0604020202020204" pitchFamily="34" charset="-128"/>
              </a:rPr>
              <a:t>innerHTML</a:t>
            </a:r>
            <a:r>
              <a:rPr kumimoji="0" lang="en-US" sz="1800" b="0" i="0" u="none" strike="noStrike" cap="none" normalizeH="0" baseline="0" dirty="0" smtClean="0">
                <a:ln>
                  <a:noFill/>
                </a:ln>
                <a:solidFill>
                  <a:schemeClr val="tx1"/>
                </a:solidFill>
                <a:effectLst/>
                <a:latin typeface="Arial Unicode MS" panose="020B0604020202020204" pitchFamily="34" charset="-128"/>
              </a:rPr>
              <a:t> = “Welcome to </a:t>
            </a:r>
            <a:r>
              <a:rPr kumimoji="0" lang="en-US" sz="1800" b="0" i="0" u="none" strike="noStrike" cap="none" normalizeH="0" baseline="0" dirty="0" err="1" smtClean="0">
                <a:ln>
                  <a:noFill/>
                </a:ln>
                <a:solidFill>
                  <a:schemeClr val="tx1"/>
                </a:solidFill>
                <a:effectLst/>
                <a:latin typeface="Arial Unicode MS" panose="020B0604020202020204" pitchFamily="34" charset="-128"/>
              </a:rPr>
              <a:t>javascri</a:t>
            </a:r>
            <a:r>
              <a:rPr lang="en-US" sz="1800" dirty="0" err="1" smtClean="0">
                <a:latin typeface="Arial Unicode MS" panose="020B0604020202020204" pitchFamily="34" charset="-128"/>
              </a:rPr>
              <a:t>pt</a:t>
            </a:r>
            <a:r>
              <a:rPr kumimoji="0" lang="en-US" sz="1800" b="0" i="0" u="none" strike="noStrike" cap="none" normalizeH="0" baseline="0" dirty="0" smtClean="0">
                <a:ln>
                  <a:noFill/>
                </a:ln>
                <a:solidFill>
                  <a:schemeClr val="tx1"/>
                </a:solidFill>
                <a:effectLst/>
                <a:latin typeface="Arial Unicode MS" panose="020B0604020202020204" pitchFamily="34" charset="-128"/>
              </a:rPr>
              <a: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&lt;/script&gt;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&lt;/head&gt;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&lt;body&gt;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&lt;h2&gt;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JavaScript in Head</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&lt;/h2&gt;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&lt;p</a:t>
            </a:r>
            <a:r>
              <a:rPr kumimoji="0" lang="en-US" sz="2400" b="0" i="0" u="none" strike="noStrike" cap="none" normalizeH="0" baseline="0" dirty="0" smtClean="0">
                <a:ln>
                  <a:noFill/>
                </a:ln>
                <a:solidFill>
                  <a:schemeClr val="tx1"/>
                </a:solidFill>
                <a:effectLst/>
              </a:rPr>
              <a:t> </a:t>
            </a:r>
            <a:r>
              <a:rPr kumimoji="0" lang="en-US" sz="1800" b="0" i="0" u="none" strike="noStrike" cap="none" normalizeH="0" baseline="0" dirty="0" smtClean="0">
                <a:ln>
                  <a:noFill/>
                </a:ln>
                <a:solidFill>
                  <a:schemeClr val="tx1"/>
                </a:solidFill>
                <a:effectLst/>
                <a:latin typeface="Arial Unicode MS" panose="020B0604020202020204" pitchFamily="34" charset="-128"/>
              </a:rPr>
              <a:t>id="demo"</a:t>
            </a:r>
            <a:r>
              <a:rPr kumimoji="0" lang="en-US" sz="2400" b="0" i="0" u="none" strike="noStrike" cap="none" normalizeH="0" baseline="0" dirty="0" smtClean="0">
                <a:ln>
                  <a:noFill/>
                </a:ln>
                <a:solidFill>
                  <a:schemeClr val="tx1"/>
                </a:solidFill>
                <a:effectLst/>
              </a:rPr>
              <a:t> </a:t>
            </a:r>
            <a:r>
              <a:rPr kumimoji="0" lang="en-US" sz="1800" b="0" i="0" u="none" strike="noStrike" cap="none" normalizeH="0" baseline="0" dirty="0" smtClean="0">
                <a:ln>
                  <a:noFill/>
                </a:ln>
                <a:solidFill>
                  <a:schemeClr val="tx1"/>
                </a:solidFill>
                <a:effectLst/>
                <a:latin typeface="Arial Unicode MS" panose="020B0604020202020204" pitchFamily="34" charset="-128"/>
              </a:rPr>
              <a:t>style="</a:t>
            </a:r>
            <a:r>
              <a:rPr kumimoji="0" lang="en-US" sz="1800" b="0" i="0" u="none" strike="noStrike" cap="none" normalizeH="0" baseline="0" dirty="0" err="1" smtClean="0">
                <a:ln>
                  <a:noFill/>
                </a:ln>
                <a:solidFill>
                  <a:schemeClr val="tx1"/>
                </a:solidFill>
                <a:effectLst/>
                <a:latin typeface="Arial Unicode MS" panose="020B0604020202020204" pitchFamily="34" charset="-128"/>
              </a:rPr>
              <a:t>color:green</a:t>
            </a:r>
            <a:r>
              <a:rPr kumimoji="0" lang="en-US" sz="1800" b="0" i="0" u="none" strike="noStrike" cap="none" normalizeH="0" baseline="0" dirty="0" smtClean="0">
                <a:ln>
                  <a:noFill/>
                </a:ln>
                <a:solidFill>
                  <a:schemeClr val="tx1"/>
                </a:solidFill>
                <a:effectLst/>
                <a:latin typeface="Arial Unicode MS" panose="020B0604020202020204" pitchFamily="34" charset="-128"/>
              </a:rPr>
              <a:t>;"&gt;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Example</a:t>
            </a:r>
            <a:r>
              <a:rPr kumimoji="0" lang="en-US" sz="1800" b="0" i="0" u="none" strike="noStrike" cap="none" normalizeH="0" dirty="0" smtClean="0">
                <a:ln>
                  <a:noFill/>
                </a:ln>
                <a:solidFill>
                  <a:schemeClr val="tx1"/>
                </a:solidFill>
                <a:effectLst/>
                <a:latin typeface="Arial Unicode MS" panose="020B0604020202020204" pitchFamily="34" charset="-128"/>
              </a:rPr>
              <a:t> program</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&lt;/p&gt;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&lt;button</a:t>
            </a:r>
            <a:r>
              <a:rPr kumimoji="0" lang="en-US" sz="2400" b="0" i="0" u="none" strike="noStrike" cap="none" normalizeH="0" baseline="0" dirty="0" smtClean="0">
                <a:ln>
                  <a:noFill/>
                </a:ln>
                <a:solidFill>
                  <a:schemeClr val="tx1"/>
                </a:solidFill>
                <a:effectLst/>
              </a:rPr>
              <a:t> </a:t>
            </a:r>
            <a:r>
              <a:rPr kumimoji="0" lang="en-US" sz="1800" b="0" i="0" u="none" strike="noStrike" cap="none" normalizeH="0" baseline="0" dirty="0" smtClean="0">
                <a:ln>
                  <a:noFill/>
                </a:ln>
                <a:solidFill>
                  <a:schemeClr val="tx1"/>
                </a:solidFill>
                <a:effectLst/>
                <a:latin typeface="Arial Unicode MS" panose="020B0604020202020204" pitchFamily="34" charset="-128"/>
              </a:rPr>
              <a:t>type="button"</a:t>
            </a:r>
            <a:r>
              <a:rPr kumimoji="0" lang="en-US" sz="2400" b="0" i="0" u="none" strike="noStrike" cap="none" normalizeH="0" baseline="0" dirty="0" smtClean="0">
                <a:ln>
                  <a:noFill/>
                </a:ln>
                <a:solidFill>
                  <a:schemeClr val="tx1"/>
                </a:solidFill>
                <a:effectLst/>
              </a:rPr>
              <a:t> </a:t>
            </a:r>
            <a:r>
              <a:rPr kumimoji="0" lang="en-US" sz="1800" b="0" i="0" u="none" strike="noStrike" cap="none" normalizeH="0" baseline="0" dirty="0" err="1" smtClean="0">
                <a:ln>
                  <a:noFill/>
                </a:ln>
                <a:solidFill>
                  <a:schemeClr val="tx1"/>
                </a:solidFill>
                <a:effectLst/>
                <a:latin typeface="Arial Unicode MS" panose="020B0604020202020204" pitchFamily="34" charset="-128"/>
              </a:rPr>
              <a:t>onclick</a:t>
            </a:r>
            <a:r>
              <a:rPr kumimoji="0" lang="en-US" sz="1800" b="0" i="0" u="none" strike="noStrike" cap="none" normalizeH="0" baseline="0" dirty="0" smtClean="0">
                <a:ln>
                  <a:noFill/>
                </a:ln>
                <a:solidFill>
                  <a:schemeClr val="tx1"/>
                </a:solidFill>
                <a:effectLst/>
                <a:latin typeface="Arial Unicode MS" panose="020B0604020202020204" pitchFamily="34" charset="-128"/>
              </a:rPr>
              <a:t>="</a:t>
            </a:r>
            <a:r>
              <a:rPr kumimoji="0" lang="en-US" sz="1800" b="0" i="0" u="none" strike="noStrike" cap="none" normalizeH="0" baseline="0" dirty="0" err="1" smtClean="0">
                <a:ln>
                  <a:noFill/>
                </a:ln>
                <a:solidFill>
                  <a:schemeClr val="tx1"/>
                </a:solidFill>
                <a:effectLst/>
                <a:latin typeface="Arial Unicode MS" panose="020B0604020202020204" pitchFamily="34" charset="-128"/>
              </a:rPr>
              <a:t>gfg</a:t>
            </a:r>
            <a:r>
              <a:rPr kumimoji="0" lang="en-US" sz="1800" b="0" i="0" u="none" strike="noStrike" cap="none" normalizeH="0" baseline="0" dirty="0" smtClean="0">
                <a:ln>
                  <a:noFill/>
                </a:ln>
                <a:solidFill>
                  <a:schemeClr val="tx1"/>
                </a:solidFill>
                <a:effectLst/>
                <a:latin typeface="Arial Unicode MS" panose="020B0604020202020204" pitchFamily="34" charset="-128"/>
              </a:rPr>
              <a:t>()"&gt;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click it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    &lt;/button&gt;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&lt;/body&gt;</a:t>
            </a: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Unicode MS" panose="020B0604020202020204" pitchFamily="34" charset="-128"/>
              </a:rPr>
              <a:t>&lt;/html&gt;</a:t>
            </a:r>
            <a:endParaRPr kumimoji="0" lang="en-US" sz="4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28113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in &lt;body&gt;</a:t>
            </a:r>
            <a:br>
              <a:rPr lang="en-US" b="1" dirty="0"/>
            </a:br>
            <a:endParaRPr lang="en-US" dirty="0"/>
          </a:p>
        </p:txBody>
      </p:sp>
      <p:sp>
        <p:nvSpPr>
          <p:cNvPr id="3" name="Content Placeholder 2"/>
          <p:cNvSpPr>
            <a:spLocks noGrp="1"/>
          </p:cNvSpPr>
          <p:nvPr>
            <p:ph idx="1"/>
          </p:nvPr>
        </p:nvSpPr>
        <p:spPr>
          <a:xfrm>
            <a:off x="838200" y="968991"/>
            <a:ext cx="10515600" cy="5207972"/>
          </a:xfrm>
        </p:spPr>
        <p:txBody>
          <a:bodyPr>
            <a:normAutofit fontScale="77500" lnSpcReduction="20000"/>
          </a:bodyPr>
          <a:lstStyle/>
          <a:p>
            <a:r>
              <a:rPr lang="en-US" dirty="0"/>
              <a:t>Placing scripts at the bottom of the &lt;body&gt; element improves the display speed, because script interpretation slows down the display.</a:t>
            </a:r>
          </a:p>
          <a:p>
            <a:r>
              <a:rPr lang="en-US" dirty="0" smtClean="0"/>
              <a:t>&lt;!</a:t>
            </a:r>
            <a:r>
              <a:rPr lang="en-US" dirty="0"/>
              <a:t>DOCTYPE html&gt;</a:t>
            </a:r>
            <a:br>
              <a:rPr lang="en-US" dirty="0"/>
            </a:br>
            <a:r>
              <a:rPr lang="en-US" dirty="0"/>
              <a:t>&lt;html&gt;</a:t>
            </a:r>
            <a:br>
              <a:rPr lang="en-US" dirty="0"/>
            </a:br>
            <a:r>
              <a:rPr lang="en-US" dirty="0"/>
              <a:t>&lt;body&gt; </a:t>
            </a:r>
            <a:br>
              <a:rPr lang="en-US" dirty="0"/>
            </a:br>
            <a:r>
              <a:rPr lang="en-US" dirty="0"/>
              <a:t/>
            </a:r>
            <a:br>
              <a:rPr lang="en-US" dirty="0"/>
            </a:br>
            <a:r>
              <a:rPr lang="en-US" dirty="0"/>
              <a:t>&lt;h2&gt;Demo JavaScript in Body&lt;/h2&gt;</a:t>
            </a:r>
            <a:br>
              <a:rPr lang="en-US" dirty="0"/>
            </a:br>
            <a:r>
              <a:rPr lang="en-US" dirty="0"/>
              <a:t/>
            </a:r>
            <a:br>
              <a:rPr lang="en-US" dirty="0"/>
            </a:br>
            <a:r>
              <a:rPr lang="en-US" dirty="0"/>
              <a:t>&lt;p id="demo"&gt;A Paragraph&lt;/p&gt;</a:t>
            </a:r>
            <a:br>
              <a:rPr lang="en-US" dirty="0"/>
            </a:br>
            <a:r>
              <a:rPr lang="en-US" dirty="0"/>
              <a:t/>
            </a:r>
            <a:br>
              <a:rPr lang="en-US" dirty="0"/>
            </a:br>
            <a:r>
              <a:rPr lang="en-US" dirty="0"/>
              <a:t>&lt;button type="button" </a:t>
            </a:r>
            <a:r>
              <a:rPr lang="en-US" dirty="0" err="1"/>
              <a:t>onclick</a:t>
            </a:r>
            <a:r>
              <a:rPr lang="en-US" dirty="0"/>
              <a:t>="</a:t>
            </a:r>
            <a:r>
              <a:rPr lang="en-US" dirty="0" err="1"/>
              <a:t>myFunction</a:t>
            </a:r>
            <a:r>
              <a:rPr lang="en-US" dirty="0"/>
              <a:t>()"&gt;Try it&lt;/button&gt;</a:t>
            </a:r>
            <a:br>
              <a:rPr lang="en-US" dirty="0"/>
            </a:br>
            <a:r>
              <a:rPr lang="en-US" dirty="0"/>
              <a:t/>
            </a:r>
            <a:br>
              <a:rPr lang="en-US" dirty="0"/>
            </a:br>
            <a:r>
              <a:rPr lang="en-US" dirty="0"/>
              <a:t>&lt;script&gt;</a:t>
            </a:r>
            <a:br>
              <a:rPr lang="en-US" dirty="0"/>
            </a:br>
            <a:r>
              <a:rPr lang="en-US" dirty="0"/>
              <a:t>function </a:t>
            </a:r>
            <a:r>
              <a:rPr lang="en-US" dirty="0" err="1"/>
              <a:t>myFunction</a:t>
            </a:r>
            <a:r>
              <a:rPr lang="en-US" dirty="0"/>
              <a:t>() {</a:t>
            </a:r>
            <a:br>
              <a:rPr lang="en-US" dirty="0"/>
            </a:br>
            <a:r>
              <a:rPr lang="en-US" dirty="0"/>
              <a:t>  </a:t>
            </a:r>
            <a:r>
              <a:rPr lang="en-US" dirty="0" err="1"/>
              <a:t>document.getElementById</a:t>
            </a:r>
            <a:r>
              <a:rPr lang="en-US" dirty="0"/>
              <a:t>("demo").</a:t>
            </a:r>
            <a:r>
              <a:rPr lang="en-US" dirty="0" err="1"/>
              <a:t>innerHTML</a:t>
            </a:r>
            <a:r>
              <a:rPr lang="en-US" dirty="0"/>
              <a:t> = "Paragraph changed.";</a:t>
            </a:r>
            <a:br>
              <a:rPr lang="en-US" dirty="0"/>
            </a:br>
            <a:r>
              <a:rPr lang="en-US" dirty="0"/>
              <a:t>}</a:t>
            </a:r>
            <a:br>
              <a:rPr lang="en-US" dirty="0"/>
            </a:br>
            <a:r>
              <a:rPr lang="en-US" dirty="0"/>
              <a:t>&lt;/script&gt;</a:t>
            </a:r>
            <a:br>
              <a:rPr lang="en-US" dirty="0"/>
            </a:br>
            <a:r>
              <a:rPr lang="en-US" dirty="0"/>
              <a:t/>
            </a:r>
            <a:br>
              <a:rPr lang="en-US" dirty="0"/>
            </a:br>
            <a:r>
              <a:rPr lang="en-US" dirty="0"/>
              <a:t>&lt;/body&gt;</a:t>
            </a:r>
            <a:br>
              <a:rPr lang="en-US" dirty="0"/>
            </a:br>
            <a:r>
              <a:rPr lang="en-US" dirty="0"/>
              <a:t>&lt;/html&gt; </a:t>
            </a:r>
          </a:p>
          <a:p>
            <a:endParaRPr lang="en-US" dirty="0"/>
          </a:p>
        </p:txBody>
      </p:sp>
    </p:spTree>
    <p:extLst>
      <p:ext uri="{BB962C8B-B14F-4D97-AF65-F5344CB8AC3E}">
        <p14:creationId xmlns:p14="http://schemas.microsoft.com/office/powerpoint/2010/main" xmlns="" val="132669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External </a:t>
            </a:r>
            <a:r>
              <a:rPr lang="en-US" b="1" dirty="0" smtClean="0"/>
              <a:t>JavaScript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External file: myScript.js</a:t>
            </a:r>
          </a:p>
          <a:p>
            <a:r>
              <a:rPr lang="en-US" dirty="0"/>
              <a:t>function </a:t>
            </a:r>
            <a:r>
              <a:rPr lang="en-US" dirty="0" err="1"/>
              <a:t>myFunction</a:t>
            </a:r>
            <a:r>
              <a:rPr lang="en-US" dirty="0"/>
              <a:t>() {</a:t>
            </a:r>
            <a:br>
              <a:rPr lang="en-US" dirty="0"/>
            </a:br>
            <a:r>
              <a:rPr lang="en-US" dirty="0"/>
              <a:t>  </a:t>
            </a:r>
            <a:r>
              <a:rPr lang="en-US" dirty="0" err="1"/>
              <a:t>document.getElementById</a:t>
            </a:r>
            <a:r>
              <a:rPr lang="en-US" dirty="0"/>
              <a:t>("demo").</a:t>
            </a:r>
            <a:r>
              <a:rPr lang="en-US" dirty="0" err="1"/>
              <a:t>innerHTML</a:t>
            </a:r>
            <a:r>
              <a:rPr lang="en-US" dirty="0"/>
              <a:t> = "Paragraph changed.";</a:t>
            </a:r>
            <a:br>
              <a:rPr lang="en-US" dirty="0"/>
            </a:br>
            <a:r>
              <a:rPr lang="en-US" dirty="0"/>
              <a:t>}</a:t>
            </a:r>
          </a:p>
          <a:p>
            <a:r>
              <a:rPr lang="en-US" dirty="0"/>
              <a:t>External scripts are practical when the same code is used in many different web pages</a:t>
            </a:r>
            <a:r>
              <a:rPr lang="en-US" dirty="0" smtClean="0"/>
              <a:t>.</a:t>
            </a:r>
            <a:endParaRPr lang="en-US" dirty="0"/>
          </a:p>
          <a:p>
            <a:r>
              <a:rPr lang="en-US" dirty="0"/>
              <a:t>JavaScript files have the file extension .</a:t>
            </a:r>
            <a:r>
              <a:rPr lang="en-US" dirty="0" err="1"/>
              <a:t>js</a:t>
            </a:r>
            <a:r>
              <a:rPr lang="en-US" dirty="0" smtClean="0"/>
              <a:t>.</a:t>
            </a:r>
            <a:endParaRPr lang="en-US" dirty="0"/>
          </a:p>
          <a:p>
            <a:r>
              <a:rPr lang="en-US" dirty="0"/>
              <a:t>To use an external script, put the name of the script file in the </a:t>
            </a:r>
            <a:r>
              <a:rPr lang="en-US" dirty="0" err="1"/>
              <a:t>src</a:t>
            </a:r>
            <a:r>
              <a:rPr lang="en-US" dirty="0"/>
              <a:t> (source) attribute of a &lt;script&gt; tag</a:t>
            </a:r>
            <a:r>
              <a:rPr lang="en-US" dirty="0" smtClean="0"/>
              <a:t>:</a:t>
            </a:r>
          </a:p>
          <a:p>
            <a:r>
              <a:rPr lang="en-US" dirty="0"/>
              <a:t>&lt;script </a:t>
            </a:r>
            <a:r>
              <a:rPr lang="en-US" dirty="0" err="1"/>
              <a:t>src</a:t>
            </a:r>
            <a:r>
              <a:rPr lang="en-US" dirty="0"/>
              <a:t>="myScript.js"&gt;&lt;/script&gt; </a:t>
            </a:r>
          </a:p>
          <a:p>
            <a:r>
              <a:rPr lang="en-US" dirty="0"/>
              <a:t>You can place an external script reference in &lt;head&gt; or &lt;body&gt; as you like</a:t>
            </a:r>
          </a:p>
        </p:txBody>
      </p:sp>
    </p:spTree>
    <p:extLst>
      <p:ext uri="{BB962C8B-B14F-4D97-AF65-F5344CB8AC3E}">
        <p14:creationId xmlns:p14="http://schemas.microsoft.com/office/powerpoint/2010/main" xmlns="" val="3086870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External JavaScript Advantages</a:t>
            </a:r>
            <a:br>
              <a:rPr lang="en-US" b="1" dirty="0"/>
            </a:br>
            <a:endParaRPr lang="en-US" dirty="0"/>
          </a:p>
        </p:txBody>
      </p:sp>
      <p:sp>
        <p:nvSpPr>
          <p:cNvPr id="3" name="Content Placeholder 2"/>
          <p:cNvSpPr>
            <a:spLocks noGrp="1"/>
          </p:cNvSpPr>
          <p:nvPr>
            <p:ph idx="1"/>
          </p:nvPr>
        </p:nvSpPr>
        <p:spPr/>
        <p:txBody>
          <a:bodyPr/>
          <a:lstStyle/>
          <a:p>
            <a:r>
              <a:rPr lang="en-US" dirty="0"/>
              <a:t>Placing scripts in external files has some advantages:</a:t>
            </a:r>
          </a:p>
          <a:p>
            <a:r>
              <a:rPr lang="en-US" dirty="0"/>
              <a:t>It separates HTML and code</a:t>
            </a:r>
          </a:p>
          <a:p>
            <a:r>
              <a:rPr lang="en-US" dirty="0"/>
              <a:t>It makes HTML and JavaScript easier to read and maintain</a:t>
            </a:r>
          </a:p>
          <a:p>
            <a:r>
              <a:rPr lang="en-US" dirty="0"/>
              <a:t>Cached JavaScript files can speed up page loads</a:t>
            </a:r>
          </a:p>
          <a:p>
            <a:r>
              <a:rPr lang="en-US" dirty="0"/>
              <a:t>To add several script files to one page  - use several script tags:</a:t>
            </a:r>
          </a:p>
          <a:p>
            <a:r>
              <a:rPr lang="en-US" b="1" dirty="0"/>
              <a:t>Example</a:t>
            </a:r>
          </a:p>
          <a:p>
            <a:r>
              <a:rPr lang="en-US" dirty="0"/>
              <a:t>&lt;script </a:t>
            </a:r>
            <a:r>
              <a:rPr lang="en-US" dirty="0" err="1"/>
              <a:t>src</a:t>
            </a:r>
            <a:r>
              <a:rPr lang="en-US" dirty="0"/>
              <a:t>="myScript1.js"&gt;&lt;/script&gt;</a:t>
            </a:r>
            <a:br>
              <a:rPr lang="en-US" dirty="0"/>
            </a:br>
            <a:r>
              <a:rPr lang="en-US" dirty="0"/>
              <a:t>&lt;script </a:t>
            </a:r>
            <a:r>
              <a:rPr lang="en-US" dirty="0" err="1"/>
              <a:t>src</a:t>
            </a:r>
            <a:r>
              <a:rPr lang="en-US"/>
              <a:t>="myScript2.js"&gt;&lt;/script&gt; </a:t>
            </a:r>
          </a:p>
          <a:p>
            <a:endParaRPr lang="en-US"/>
          </a:p>
        </p:txBody>
      </p:sp>
    </p:spTree>
    <p:extLst>
      <p:ext uri="{BB962C8B-B14F-4D97-AF65-F5344CB8AC3E}">
        <p14:creationId xmlns:p14="http://schemas.microsoft.com/office/powerpoint/2010/main" xmlns="" val="1678906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928</Words>
  <Application>Microsoft Office PowerPoint</Application>
  <PresentationFormat>Custom</PresentationFormat>
  <Paragraphs>127</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 Client Side Scripting  </vt:lpstr>
      <vt:lpstr>What is Client Side Scripting </vt:lpstr>
      <vt:lpstr>What is Client side Script? </vt:lpstr>
      <vt:lpstr>Slide 4</vt:lpstr>
      <vt:lpstr>Popular Client side Scripting Language </vt:lpstr>
      <vt:lpstr>JavaScript</vt:lpstr>
      <vt:lpstr>VBScript and JQuery</vt:lpstr>
      <vt:lpstr>Introduction to JavaScript</vt:lpstr>
      <vt:lpstr>Slide 9</vt:lpstr>
      <vt:lpstr>Features of JavaScript</vt:lpstr>
      <vt:lpstr>Applications of JavaScript</vt:lpstr>
      <vt:lpstr>Where to put JavaScript in an HTML Document ? </vt:lpstr>
      <vt:lpstr>JavaScript in head</vt:lpstr>
      <vt:lpstr>JavaScript in &lt;body&gt; </vt:lpstr>
      <vt:lpstr>External JavaScript</vt:lpstr>
      <vt:lpstr>External JavaScript Advantages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Client Side Scripting</dc:title>
  <dc:creator>Windows User</dc:creator>
  <cp:lastModifiedBy>Windows User</cp:lastModifiedBy>
  <cp:revision>24</cp:revision>
  <dcterms:created xsi:type="dcterms:W3CDTF">2023-03-20T05:58:59Z</dcterms:created>
  <dcterms:modified xsi:type="dcterms:W3CDTF">2024-12-20T01:38:38Z</dcterms:modified>
</cp:coreProperties>
</file>